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3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353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12191695" cy="54864"/>
          </a:xfrm>
          <a:prstGeom prst="rect">
            <a:avLst/>
          </a:prstGeom>
          <a:solidFill>
            <a:srgbClr val="E3163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PSIA–NRM  BOARD  ·  JUNE 17–18,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Mountain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F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plan for the next twelve months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1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38039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4114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2026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3858768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48056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1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983480" y="38039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983480" y="4114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Summer–Fall 2026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3858768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13816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1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8641080" y="38039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PHILANTHROPY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641080" y="4114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2027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22960" y="58338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 Dawson  ·  NRM Board of Directors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3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353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initiatives, one flywheel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aren't three projects competing for attention. Each one builds the audience and the assets the next one needs.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4290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4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31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3429000" cy="109728"/>
          </a:xfrm>
          <a:prstGeom prst="rect">
            <a:avLst/>
          </a:prstGeom>
          <a:solidFill>
            <a:srgbClr val="035368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697480"/>
            <a:ext cx="868680" cy="868680"/>
          </a:xfrm>
          <a:prstGeom prst="ellipse">
            <a:avLst/>
          </a:prstGeom>
          <a:solidFill>
            <a:srgbClr val="03536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9260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37033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Website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60120" y="40965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0120" y="44348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hub members actually want to use — the home base everything else points to.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3611880"/>
            <a:ext cx="384048" cy="38404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343400" y="2286000"/>
            <a:ext cx="34290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4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31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43400" y="2286000"/>
            <a:ext cx="3429000" cy="109728"/>
          </a:xfrm>
          <a:prstGeom prst="rect">
            <a:avLst/>
          </a:prstGeom>
          <a:solidFill>
            <a:srgbClr val="045996"/>
          </a:solidFill>
          <a:ln/>
        </p:spPr>
      </p:sp>
      <p:sp>
        <p:nvSpPr>
          <p:cNvPr id="15" name="Shape 11"/>
          <p:cNvSpPr/>
          <p:nvPr/>
        </p:nvSpPr>
        <p:spPr>
          <a:xfrm>
            <a:off x="4663440" y="2697480"/>
            <a:ext cx="868680" cy="868680"/>
          </a:xfrm>
          <a:prstGeom prst="ellipse">
            <a:avLst/>
          </a:prstGeom>
          <a:solidFill>
            <a:srgbClr val="04599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92608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63440" y="37033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4663440" y="40965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AUDIENCE &amp; TRUST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663440" y="44348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content that earns attention, drives members to the hub, and builds belonging.</a:t>
            </a:r>
            <a:endParaRPr lang="en-US" sz="13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2" y="3611880"/>
            <a:ext cx="384048" cy="38404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046720" y="2286000"/>
            <a:ext cx="34290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4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31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046720" y="2286000"/>
            <a:ext cx="3429000" cy="109728"/>
          </a:xfrm>
          <a:prstGeom prst="rect">
            <a:avLst/>
          </a:prstGeom>
          <a:solidFill>
            <a:srgbClr val="035368"/>
          </a:solidFill>
          <a:ln/>
        </p:spPr>
      </p:sp>
      <p:sp>
        <p:nvSpPr>
          <p:cNvPr id="23" name="Shape 17"/>
          <p:cNvSpPr/>
          <p:nvPr/>
        </p:nvSpPr>
        <p:spPr>
          <a:xfrm>
            <a:off x="8366760" y="2697480"/>
            <a:ext cx="868680" cy="868680"/>
          </a:xfrm>
          <a:prstGeom prst="ellipse">
            <a:avLst/>
          </a:prstGeom>
          <a:solidFill>
            <a:srgbClr val="035368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2926080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366760" y="37033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Mountain</a:t>
            </a:r>
            <a:endParaRPr lang="en-US" sz="1900" dirty="0"/>
          </a:p>
        </p:txBody>
      </p:sp>
      <p:sp>
        <p:nvSpPr>
          <p:cNvPr id="26" name="Text 19"/>
          <p:cNvSpPr/>
          <p:nvPr/>
        </p:nvSpPr>
        <p:spPr>
          <a:xfrm>
            <a:off x="8366760" y="40965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FUNDING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8366760" y="44348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warmed, engaged community is what makes a serious philanthropy campaign possible.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35368"/>
          </a:solidFill>
          <a:ln/>
        </p:spPr>
      </p:sp>
      <p:sp>
        <p:nvSpPr>
          <p:cNvPr id="29" name="Text 22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Mountain  ·  PSIA-NRM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3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353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sequences over twelve months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2286000"/>
            <a:ext cx="10058400" cy="0"/>
          </a:xfrm>
          <a:prstGeom prst="line">
            <a:avLst/>
          </a:prstGeom>
          <a:noFill/>
          <a:ln w="25400">
            <a:solidFill>
              <a:srgbClr val="D5E1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53412" y="2084832"/>
            <a:ext cx="402336" cy="402336"/>
          </a:xfrm>
          <a:prstGeom prst="ellipse">
            <a:avLst/>
          </a:prstGeom>
          <a:solidFill>
            <a:srgbClr val="035368"/>
          </a:solidFill>
          <a:ln/>
        </p:spPr>
      </p:sp>
      <p:sp>
        <p:nvSpPr>
          <p:cNvPr id="6" name="Text 4"/>
          <p:cNvSpPr/>
          <p:nvPr/>
        </p:nvSpPr>
        <p:spPr>
          <a:xfrm>
            <a:off x="2153412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342900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4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31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99923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3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2026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331012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the site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822192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over to new psia-nrm.org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live on Azure (~$40/mo)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log in with PSIA SSO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56732" y="2084832"/>
            <a:ext cx="402336" cy="402336"/>
          </a:xfrm>
          <a:prstGeom prst="ellipse">
            <a:avLst/>
          </a:prstGeom>
          <a:solidFill>
            <a:srgbClr val="045996"/>
          </a:solidFill>
          <a:ln/>
        </p:spPr>
      </p:sp>
      <p:sp>
        <p:nvSpPr>
          <p:cNvPr id="12" name="Text 10"/>
          <p:cNvSpPr/>
          <p:nvPr/>
        </p:nvSpPr>
        <p:spPr>
          <a:xfrm>
            <a:off x="5856732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43400" y="2743200"/>
            <a:ext cx="342900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4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31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299923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459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SUMMER–FALL 2026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17720" y="331012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engagement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17720" y="3822192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video series (Katie &amp; Brenna)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members to the hub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member-generated content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560052" y="2084832"/>
            <a:ext cx="402336" cy="402336"/>
          </a:xfrm>
          <a:prstGeom prst="ellipse">
            <a:avLst/>
          </a:prstGeom>
          <a:solidFill>
            <a:srgbClr val="035368"/>
          </a:solidFill>
          <a:ln/>
        </p:spPr>
      </p:sp>
      <p:sp>
        <p:nvSpPr>
          <p:cNvPr id="18" name="Text 16"/>
          <p:cNvSpPr/>
          <p:nvPr/>
        </p:nvSpPr>
        <p:spPr>
          <a:xfrm>
            <a:off x="9560052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46720" y="2743200"/>
            <a:ext cx="342900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4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31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21040" y="299923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3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2027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321040" y="331012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Our Mountain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1040" y="3822192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Soft-launch the campaign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Warmed by a year of engagement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&amp; instructors activate the Three Cs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3536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Mountain  ·  PSIA-NRM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3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1 · THE WEBSITE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353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and board-approved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is live and reviewed. This is a real, working site — not a mockup.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420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4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31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560320"/>
            <a:ext cx="731520" cy="731520"/>
          </a:xfrm>
          <a:prstGeom prst="ellipse">
            <a:avLst/>
          </a:prstGeom>
          <a:solidFill>
            <a:srgbClr val="E8F0F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7432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441448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353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914400" y="3227832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member profiles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01568" y="2148840"/>
            <a:ext cx="25420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4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31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75888" y="2560320"/>
            <a:ext cx="731520" cy="731520"/>
          </a:xfrm>
          <a:prstGeom prst="ellipse">
            <a:avLst/>
          </a:prstGeom>
          <a:solidFill>
            <a:srgbClr val="E8F0F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768" y="27432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98848" y="2441448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353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800" dirty="0"/>
          </a:p>
        </p:txBody>
      </p:sp>
      <p:sp>
        <p:nvSpPr>
          <p:cNvPr id="14" name="Text 10"/>
          <p:cNvSpPr/>
          <p:nvPr/>
        </p:nvSpPr>
        <p:spPr>
          <a:xfrm>
            <a:off x="3675888" y="3227832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events live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63056" y="2148840"/>
            <a:ext cx="25420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4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31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37376" y="2560320"/>
            <a:ext cx="731520" cy="731520"/>
          </a:xfrm>
          <a:prstGeom prst="ellipse">
            <a:avLst/>
          </a:prstGeom>
          <a:solidFill>
            <a:srgbClr val="E8F0F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27432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60336" y="2441448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353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800" dirty="0"/>
          </a:p>
        </p:txBody>
      </p:sp>
      <p:sp>
        <p:nvSpPr>
          <p:cNvPr id="19" name="Text 14"/>
          <p:cNvSpPr/>
          <p:nvPr/>
        </p:nvSpPr>
        <p:spPr>
          <a:xfrm>
            <a:off x="6437376" y="3227832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 of pathway data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924544" y="2148840"/>
            <a:ext cx="25420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4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31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98864" y="2560320"/>
            <a:ext cx="731520" cy="731520"/>
          </a:xfrm>
          <a:prstGeom prst="ellipse">
            <a:avLst/>
          </a:prstGeom>
          <a:solidFill>
            <a:srgbClr val="E8F0F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1744" y="27432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21824" y="2441448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353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800" dirty="0"/>
          </a:p>
        </p:txBody>
      </p:sp>
      <p:sp>
        <p:nvSpPr>
          <p:cNvPr id="24" name="Text 18"/>
          <p:cNvSpPr/>
          <p:nvPr/>
        </p:nvSpPr>
        <p:spPr>
          <a:xfrm>
            <a:off x="9198864" y="3227832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via PSIA SSO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40080" y="3977640"/>
            <a:ext cx="10881360" cy="2148840"/>
          </a:xfrm>
          <a:prstGeom prst="rect">
            <a:avLst/>
          </a:prstGeom>
          <a:solidFill>
            <a:srgbClr val="035368"/>
          </a:solidFill>
          <a:ln/>
        </p:spPr>
      </p:sp>
      <p:sp>
        <p:nvSpPr>
          <p:cNvPr id="26" name="Text 20"/>
          <p:cNvSpPr/>
          <p:nvPr/>
        </p:nvSpPr>
        <p:spPr>
          <a:xfrm>
            <a:off x="96012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members finally get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960120" y="4709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Pathway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960120" y="50292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certification dashboard — see your progress and what's next.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572000" y="4709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Directory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4572000" y="50292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peers by discipline, resort, and role — connection beyond your home hill.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8183880" y="4709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Community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8183880" y="50292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Clinics, the directory, gallery, and Discord, all in one place.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35368"/>
          </a:solidFill>
          <a:ln/>
        </p:spPr>
      </p:sp>
      <p:sp>
        <p:nvSpPr>
          <p:cNvPr id="34" name="Text 28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Mountain  ·  PSIA-NRM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3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1 · THE WEBSITE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353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Status: clearing the last hurdle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we control is done. The remaining work is hosting and access from National — and we're driving it hard.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3492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4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31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423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53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track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92608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88950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build &amp; content — complete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9300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4564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members + events imported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5993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4023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PSIA single-sign-on integration mapped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62686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45902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plan set: National Azure, ~$40/mo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193792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80160" y="515721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launch: week of Aug 3, 2026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6172200" y="2194560"/>
            <a:ext cx="5349240" cy="3703320"/>
          </a:xfrm>
          <a:prstGeom prst="rect">
            <a:avLst/>
          </a:prstGeom>
          <a:solidFill>
            <a:srgbClr val="E8F0F2"/>
          </a:solidFill>
          <a:ln w="12700">
            <a:solidFill>
              <a:srgbClr val="D5E1E4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6446520" y="2423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59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waiting on from National</a:t>
            </a:r>
            <a:endParaRPr lang="en-US" sz="1800" dirty="0"/>
          </a:p>
        </p:txBody>
      </p:sp>
      <p:sp>
        <p:nvSpPr>
          <p:cNvPr id="19" name="Text 12"/>
          <p:cNvSpPr/>
          <p:nvPr/>
        </p:nvSpPr>
        <p:spPr>
          <a:xfrm>
            <a:off x="6446520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1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6858000" y="29443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agreement (Sean + Jeff)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644652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1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6858000" y="34930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subscription + access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6446520" y="4069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1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6858000" y="404164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+ database provisioned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6446520" y="4617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1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6858000" y="45902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login credentials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6446520" y="5257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it: </a:t>
            </a:r>
            <a:pPr indent="0" marL="0">
              <a:buNone/>
            </a:pPr>
            <a:r>
              <a:rPr lang="en-US" sz="11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nudges sent to Sean (cc Herb) and Herb this week; a weekly status check flags any slip. Fallback to independent hosting if access stalls past June 30.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35368"/>
          </a:solidFill>
          <a:ln/>
        </p:spPr>
      </p:sp>
      <p:sp>
        <p:nvSpPr>
          <p:cNvPr id="29" name="Text 22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Mountain  ·  PSIA-NRM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3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2 · MEMBER ENGAGEMENT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353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site is the destination. Content is the draw.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funnel: create content worth showing up for, point it at the hub, then let members create the next wave themselves.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290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4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31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697480"/>
            <a:ext cx="868680" cy="868680"/>
          </a:xfrm>
          <a:prstGeom prst="ellipse">
            <a:avLst/>
          </a:prstGeom>
          <a:solidFill>
            <a:srgbClr val="03536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9260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7033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3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60120" y="39959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Flagship content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60120" y="445312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marquee video series with regional stars (next slide). We produce; they star.</a:t>
            </a:r>
            <a:endParaRPr lang="en-US" sz="12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3566160"/>
            <a:ext cx="365760" cy="3657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43400" y="2331720"/>
            <a:ext cx="34290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4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31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63440" y="2697480"/>
            <a:ext cx="868680" cy="868680"/>
          </a:xfrm>
          <a:prstGeom prst="ellipse">
            <a:avLst/>
          </a:prstGeom>
          <a:solidFill>
            <a:srgbClr val="03536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92608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63440" y="37033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3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663440" y="39959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 members in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4663440" y="445312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content across socials and Discord — every view routes back to the site.</a:t>
            </a:r>
            <a:endParaRPr lang="en-US" sz="12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3566160"/>
            <a:ext cx="365760" cy="3657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046720" y="2331720"/>
            <a:ext cx="34290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4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31">
                <a:alpha val="1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8366760" y="2697480"/>
            <a:ext cx="868680" cy="868680"/>
          </a:xfrm>
          <a:prstGeom prst="ellipse">
            <a:avLst/>
          </a:prstGeom>
          <a:solidFill>
            <a:srgbClr val="035368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292608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366760" y="37033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3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8366760" y="39959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Member-generated</a:t>
            </a:r>
            <a:endParaRPr lang="en-US" sz="1800" dirty="0"/>
          </a:p>
        </p:txBody>
      </p:sp>
      <p:sp>
        <p:nvSpPr>
          <p:cNvPr id="24" name="Text 17"/>
          <p:cNvSpPr/>
          <p:nvPr/>
        </p:nvSpPr>
        <p:spPr>
          <a:xfrm>
            <a:off x="8366760" y="445312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engagement is up, members submit their own clips, stories, and photos.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35368"/>
          </a:solidFill>
          <a:ln/>
        </p:spPr>
      </p:sp>
      <p:sp>
        <p:nvSpPr>
          <p:cNvPr id="26" name="Text 19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Mountain  ·  PSIA-NRM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3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2 · FLAGSHIP CONTENT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353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series. Two stars. We do the work.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asks are deliberately low-lift: Nick handles all filming, editing, and scripting. Katie and Brenna only have to be the talent.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3035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4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31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40280"/>
            <a:ext cx="5303520" cy="128016"/>
          </a:xfrm>
          <a:prstGeom prst="rect">
            <a:avLst/>
          </a:prstGeom>
          <a:solidFill>
            <a:srgbClr val="035368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697480"/>
            <a:ext cx="1005840" cy="1005840"/>
          </a:xfrm>
          <a:prstGeom prst="ellipse">
            <a:avLst/>
          </a:prstGeom>
          <a:solidFill>
            <a:srgbClr val="03536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2953512"/>
            <a:ext cx="493776" cy="4937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94560" y="2743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Katie White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2194560" y="32278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PSIA National Team · Yellowstone Club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1005840" y="4023360"/>
            <a:ext cx="4572000" cy="0"/>
          </a:xfrm>
          <a:prstGeom prst="line">
            <a:avLst/>
          </a:prstGeom>
          <a:noFill/>
          <a:ln w="12700">
            <a:solidFill>
              <a:srgbClr val="D5E1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4160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53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 &amp; cross-training series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05840" y="46177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Off-season conditioning for instructors serious about progressing — the dryland work that actually moves the needle on skiing.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72200" y="2240280"/>
            <a:ext cx="53035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4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31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72200" y="2240280"/>
            <a:ext cx="5303520" cy="128016"/>
          </a:xfrm>
          <a:prstGeom prst="rect">
            <a:avLst/>
          </a:prstGeom>
          <a:solidFill>
            <a:srgbClr val="045996"/>
          </a:solidFill>
          <a:ln/>
        </p:spPr>
      </p:sp>
      <p:sp>
        <p:nvSpPr>
          <p:cNvPr id="16" name="Shape 13"/>
          <p:cNvSpPr/>
          <p:nvPr/>
        </p:nvSpPr>
        <p:spPr>
          <a:xfrm>
            <a:off x="6537960" y="2697480"/>
            <a:ext cx="1005840" cy="1005840"/>
          </a:xfrm>
          <a:prstGeom prst="ellipse">
            <a:avLst/>
          </a:prstGeom>
          <a:solidFill>
            <a:srgbClr val="045996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2953512"/>
            <a:ext cx="493776" cy="49377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726680" y="2743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Brenna Kelleher</a:t>
            </a:r>
            <a:endParaRPr lang="en-US" sz="2300" dirty="0"/>
          </a:p>
        </p:txBody>
      </p:sp>
      <p:sp>
        <p:nvSpPr>
          <p:cNvPr id="19" name="Text 15"/>
          <p:cNvSpPr/>
          <p:nvPr/>
        </p:nvSpPr>
        <p:spPr>
          <a:xfrm>
            <a:off x="7726680" y="32278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PSIA National Team · Big Sky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537960" y="4023360"/>
            <a:ext cx="4572000" cy="0"/>
          </a:xfrm>
          <a:prstGeom prst="line">
            <a:avLst/>
          </a:prstGeom>
          <a:noFill/>
          <a:ln w="12700">
            <a:solidFill>
              <a:srgbClr val="D5E1E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537960" y="4160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59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Movement-analysis &amp; coaching series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537960" y="46177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gather video of regional instructors; Brenna delivers voice-over critique and coaching — world-class eyes for every hill.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35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them: National-team credibility signals exactly where NRM is headed — and gives instructors at smaller hills access they'd never otherwise get.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35368"/>
          </a:solidFill>
          <a:ln/>
        </p:spPr>
      </p:sp>
      <p:sp>
        <p:nvSpPr>
          <p:cNvPr id="25" name="Text 21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Mountain  ·  PSIA-NRM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3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PHILANTHROPY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353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Mountain — and why engagement comes first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campaign vision is ready. What it needs is an engaged community — which is exactly what Phases 1 and 2 build.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4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31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606040"/>
            <a:ext cx="731520" cy="731520"/>
          </a:xfrm>
          <a:prstGeom prst="ellipse">
            <a:avLst/>
          </a:prstGeom>
          <a:solidFill>
            <a:srgbClr val="E8F0F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7889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6974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&amp; Equity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14400" y="3474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kid learns; every ability included.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228600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4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31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2606040"/>
            <a:ext cx="731520" cy="731520"/>
          </a:xfrm>
          <a:prstGeom prst="ellipse">
            <a:avLst/>
          </a:prstGeom>
          <a:solidFill>
            <a:srgbClr val="E8F0F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7889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26974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Instructor Sustainability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617720" y="3474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Housing, healthcare, paid certification, safety.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46720" y="2286000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4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31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21040" y="2606040"/>
            <a:ext cx="731520" cy="731520"/>
          </a:xfrm>
          <a:prstGeom prst="ellipse">
            <a:avLst/>
          </a:prstGeom>
          <a:solidFill>
            <a:srgbClr val="E8F0F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7889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0" y="26974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Pathways &amp; Innovation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321040" y="3474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 that last — plus the Innovation Lab.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4297680"/>
            <a:ext cx="10881360" cy="1783080"/>
          </a:xfrm>
          <a:prstGeom prst="rect">
            <a:avLst/>
          </a:prstGeom>
          <a:solidFill>
            <a:srgbClr val="04323D"/>
          </a:solidFill>
          <a:ln/>
        </p:spPr>
      </p:sp>
      <p:sp>
        <p:nvSpPr>
          <p:cNvPr id="21" name="Text 16"/>
          <p:cNvSpPr/>
          <p:nvPr/>
        </p:nvSpPr>
        <p:spPr>
          <a:xfrm>
            <a:off x="1005840" y="45720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$50M</a:t>
            </a:r>
            <a:pPr indent="0" marL="0">
              <a:buNone/>
            </a:pPr>
            <a:r>
              <a:rPr lang="en-US" sz="1800" dirty="0">
                <a:solidFill>
                  <a:srgbClr val="9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over 10 years</a:t>
            </a:r>
            <a:endParaRPr lang="en-US" sz="4000" dirty="0"/>
          </a:p>
        </p:txBody>
      </p:sp>
      <p:sp>
        <p:nvSpPr>
          <p:cNvPr id="22" name="Text 17"/>
          <p:cNvSpPr/>
          <p:nvPr/>
        </p:nvSpPr>
        <p:spPr>
          <a:xfrm>
            <a:off x="1005840" y="53492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phases: Foundation → Scale → Endowment, anchored by the Innovation Lab moonshot.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309360" y="4572000"/>
            <a:ext cx="0" cy="1371600"/>
          </a:xfrm>
          <a:prstGeom prst="line">
            <a:avLst/>
          </a:prstGeom>
          <a:noFill/>
          <a:ln w="19050">
            <a:solidFill>
              <a:srgbClr val="1C526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67512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LAUNCH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675120" y="4892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January 2027</a:t>
            </a:r>
            <a:endParaRPr lang="en-US" sz="2400" dirty="0"/>
          </a:p>
        </p:txBody>
      </p:sp>
      <p:sp>
        <p:nvSpPr>
          <p:cNvPr id="26" name="Text 21"/>
          <p:cNvSpPr/>
          <p:nvPr/>
        </p:nvSpPr>
        <p:spPr>
          <a:xfrm>
            <a:off x="6675120" y="54406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into a community that already cares — not a cold ask.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35368"/>
          </a:solidFill>
          <a:ln/>
        </p:spPr>
      </p:sp>
      <p:sp>
        <p:nvSpPr>
          <p:cNvPr id="28" name="Text 23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Mountain  ·  PSIA-NRM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3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353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 is fundraising — a year early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Mountain asks the board and instructors to surface the Three Cs. Phase 2 manufactures the first one at scale.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290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4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31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31720"/>
            <a:ext cx="3429000" cy="109728"/>
          </a:xfrm>
          <a:prstGeom prst="rect">
            <a:avLst/>
          </a:prstGeom>
          <a:solidFill>
            <a:srgbClr val="E3163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6974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1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38404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PHASE 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'why I teach' film or a coaching breakdown is the emotional tie the campaign depends on — created now and ready to deploy.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2331720"/>
            <a:ext cx="34290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4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31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2331720"/>
            <a:ext cx="3429000" cy="109728"/>
          </a:xfrm>
          <a:prstGeom prst="rect">
            <a:avLst/>
          </a:prstGeom>
          <a:solidFill>
            <a:srgbClr val="035368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6974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353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663440" y="34290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63440" y="38404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 LATER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63440" y="42062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engaged audience is one you can learn from. Engagement data tells us who's leaning in.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46720" y="2331720"/>
            <a:ext cx="34290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4"/>
            </a:solidFill>
            <a:prstDash val="solid"/>
          </a:ln>
          <a:effectLst>
            <a:outerShdw sx="100000" sy="100000" kx="0" ky="0" algn="bl" rotWithShape="0" blurRad="114300" dist="38100" dir="5400000">
              <a:srgbClr val="0A2A31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0" y="2331720"/>
            <a:ext cx="3429000" cy="109728"/>
          </a:xfrm>
          <a:prstGeom prst="rect">
            <a:avLst/>
          </a:prstGeom>
          <a:solidFill>
            <a:srgbClr val="035368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26974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353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C3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366760" y="34290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Commitment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366760" y="38404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ASK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366760" y="42062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ask comes in 2027, it lands with people who already feel part of the story.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3536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Mountain  ·  PSIA-NRM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E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32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163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I'M ASKING THE BOARD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1887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Endorse the plan — and help me clear the path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5212080" cy="1554480"/>
          </a:xfrm>
          <a:prstGeom prst="rect">
            <a:avLst/>
          </a:prstGeom>
          <a:solidFill>
            <a:srgbClr val="035368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B0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74520" y="25420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Endorse the unified plan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874520" y="299923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Site → Engagement → Philanthropy as one sequenced effort, not three.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2286000"/>
            <a:ext cx="5212080" cy="1554480"/>
          </a:xfrm>
          <a:prstGeom prst="rect">
            <a:avLst/>
          </a:prstGeom>
          <a:solidFill>
            <a:srgbClr val="035368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B0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360920" y="25420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 unstick National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60920" y="299923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 to close the hosting agreement with Jeff so we hit the summer launch window.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069080"/>
            <a:ext cx="5212080" cy="1554480"/>
          </a:xfrm>
          <a:prstGeom prst="rect">
            <a:avLst/>
          </a:prstGeom>
          <a:solidFill>
            <a:srgbClr val="035368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B0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874520" y="43251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Green-light the content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874520" y="478231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engaging Katie and Brenna now, so filming happens this off-season.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4069080"/>
            <a:ext cx="5212080" cy="1554480"/>
          </a:xfrm>
          <a:prstGeom prst="rect">
            <a:avLst/>
          </a:prstGeom>
          <a:solidFill>
            <a:srgbClr val="035368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B0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360920" y="43251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 January 2027 as the target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360920" y="478231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Our Mountain soft-launches once engagement has had a year to build.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6172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is nearly here. The content is ready to shoot. The only question is whether we move together — now.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Mountain — Unified Plan</dc:title>
  <dc:subject>PptxGenJS Presentation</dc:subject>
  <dc:creator>Nick Dawson</dc:creator>
  <cp:lastModifiedBy>Nick Dawson</cp:lastModifiedBy>
  <cp:revision>1</cp:revision>
  <dcterms:created xsi:type="dcterms:W3CDTF">2026-06-08T22:02:16Z</dcterms:created>
  <dcterms:modified xsi:type="dcterms:W3CDTF">2026-06-08T22:02:16Z</dcterms:modified>
</cp:coreProperties>
</file>